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8d8727ac642a1" /><Relationship Type="http://schemas.openxmlformats.org/officeDocument/2006/relationships/extended-properties" Target="/docProps/app.xml" Id="R4cded66d4c434432" /><Relationship Type="http://schemas.openxmlformats.org/officeDocument/2006/relationships/officeDocument" Target="/ppt/presentation.xml" Id="Rfba1476412b545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a8c84af544c24"/>
  </p:sldMasterIdLst>
  <p:notesMasterIdLst>
    <p:notesMasterId xmlns:r="http://schemas.openxmlformats.org/officeDocument/2006/relationships" r:id="Ra3aee9e8121b4cd7"/>
  </p:notesMasterIdLst>
  <p:sldIdLst>
    <p:sldId xmlns:r="http://schemas.openxmlformats.org/officeDocument/2006/relationships" id="256" r:id="R377d193389554ba5"/>
    <p:sldId xmlns:r="http://schemas.openxmlformats.org/officeDocument/2006/relationships" id="257" r:id="R23fe95a64e9e43f5"/>
    <p:sldId xmlns:r="http://schemas.openxmlformats.org/officeDocument/2006/relationships" id="258" r:id="R97dfca807ac04c33"/>
    <p:sldId xmlns:r="http://schemas.openxmlformats.org/officeDocument/2006/relationships" id="259" r:id="Re7bc47a6948b473b"/>
    <p:sldId xmlns:r="http://schemas.openxmlformats.org/officeDocument/2006/relationships" id="260" r:id="R22abe7951a94496c"/>
    <p:sldId xmlns:r="http://schemas.openxmlformats.org/officeDocument/2006/relationships" id="261" r:id="R72e53c6f6ed742e1"/>
    <p:sldId xmlns:r="http://schemas.openxmlformats.org/officeDocument/2006/relationships" id="262" r:id="R1350480daa3f457c"/>
    <p:sldId xmlns:r="http://schemas.openxmlformats.org/officeDocument/2006/relationships" id="263" r:id="R48926195523a4a27"/>
    <p:sldId xmlns:r="http://schemas.openxmlformats.org/officeDocument/2006/relationships" id="264" r:id="Rb49d3a8cee4147af"/>
    <p:sldId xmlns:r="http://schemas.openxmlformats.org/officeDocument/2006/relationships" id="265" r:id="R3314fc9b35ff4eb4"/>
    <p:sldId xmlns:r="http://schemas.openxmlformats.org/officeDocument/2006/relationships" id="266" r:id="R19f05f2812084ec0"/>
    <p:sldId xmlns:r="http://schemas.openxmlformats.org/officeDocument/2006/relationships" id="267" r:id="Ree19990b040d40d5"/>
    <p:sldId xmlns:r="http://schemas.openxmlformats.org/officeDocument/2006/relationships" id="268" r:id="Rd645d17e68c8400f"/>
    <p:sldId xmlns:r="http://schemas.openxmlformats.org/officeDocument/2006/relationships" id="269" r:id="R1407512201f5488f"/>
    <p:sldId xmlns:r="http://schemas.openxmlformats.org/officeDocument/2006/relationships" id="270" r:id="R5ae3e74474d243c7"/>
    <p:sldId xmlns:r="http://schemas.openxmlformats.org/officeDocument/2006/relationships" id="271" r:id="Rb30d7543d7d54656"/>
    <p:sldId xmlns:r="http://schemas.openxmlformats.org/officeDocument/2006/relationships" id="272" r:id="R5a8f41b206c34cc1"/>
    <p:sldId xmlns:r="http://schemas.openxmlformats.org/officeDocument/2006/relationships" id="273" r:id="Rcb7eafb006444b34"/>
    <p:sldId xmlns:r="http://schemas.openxmlformats.org/officeDocument/2006/relationships" id="274" r:id="Rbdd21bcd3a894e40"/>
    <p:sldId xmlns:r="http://schemas.openxmlformats.org/officeDocument/2006/relationships" id="275" r:id="Rcb2b20728e5b4085"/>
    <p:sldId xmlns:r="http://schemas.openxmlformats.org/officeDocument/2006/relationships" id="276" r:id="R3eced73d3f5246c6"/>
    <p:sldId xmlns:r="http://schemas.openxmlformats.org/officeDocument/2006/relationships" id="277" r:id="R86023d4a8aa049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f053510a7464c" /><Relationship Type="http://schemas.openxmlformats.org/officeDocument/2006/relationships/slideMaster" Target="/ppt/slideMasters/slideMaster1.xml" Id="Rc35a8c84af544c24" /><Relationship Type="http://schemas.openxmlformats.org/officeDocument/2006/relationships/notesMaster" Target="/ppt/notesMasters/notesMaster1.xml" Id="Ra3aee9e8121b4cd7" /><Relationship Type="http://schemas.openxmlformats.org/officeDocument/2006/relationships/presProps" Target="/ppt/presProps.xml" Id="R951fa03f72a34206" /><Relationship Type="http://schemas.openxmlformats.org/officeDocument/2006/relationships/tableStyles" Target="/ppt/tableStyles.xml" Id="R02c4a621f7b34c04" /><Relationship Type="http://schemas.openxmlformats.org/officeDocument/2006/relationships/slide" Target="/ppt/slides/slide1.xml" Id="R377d193389554ba5" /><Relationship Type="http://schemas.openxmlformats.org/officeDocument/2006/relationships/slide" Target="/ppt/slides/slide2.xml" Id="R23fe95a64e9e43f5" /><Relationship Type="http://schemas.openxmlformats.org/officeDocument/2006/relationships/slide" Target="/ppt/slides/slide3.xml" Id="R97dfca807ac04c33" /><Relationship Type="http://schemas.openxmlformats.org/officeDocument/2006/relationships/slide" Target="/ppt/slides/slide4.xml" Id="Re7bc47a6948b473b" /><Relationship Type="http://schemas.openxmlformats.org/officeDocument/2006/relationships/slide" Target="/ppt/slides/slide5.xml" Id="R22abe7951a94496c" /><Relationship Type="http://schemas.openxmlformats.org/officeDocument/2006/relationships/slide" Target="/ppt/slides/slide6.xml" Id="R72e53c6f6ed742e1" /><Relationship Type="http://schemas.openxmlformats.org/officeDocument/2006/relationships/slide" Target="/ppt/slides/slide7.xml" Id="R1350480daa3f457c" /><Relationship Type="http://schemas.openxmlformats.org/officeDocument/2006/relationships/slide" Target="/ppt/slides/slide8.xml" Id="R48926195523a4a27" /><Relationship Type="http://schemas.openxmlformats.org/officeDocument/2006/relationships/slide" Target="/ppt/slides/slide9.xml" Id="Rb49d3a8cee4147af" /><Relationship Type="http://schemas.openxmlformats.org/officeDocument/2006/relationships/slide" Target="/ppt/slides/slide10.xml" Id="R3314fc9b35ff4eb4" /><Relationship Type="http://schemas.openxmlformats.org/officeDocument/2006/relationships/slide" Target="/ppt/slides/slide11.xml" Id="R19f05f2812084ec0" /><Relationship Type="http://schemas.openxmlformats.org/officeDocument/2006/relationships/slide" Target="/ppt/slides/slide12.xml" Id="Ree19990b040d40d5" /><Relationship Type="http://schemas.openxmlformats.org/officeDocument/2006/relationships/slide" Target="/ppt/slides/slide13.xml" Id="Rd645d17e68c8400f" /><Relationship Type="http://schemas.openxmlformats.org/officeDocument/2006/relationships/slide" Target="/ppt/slides/slide14.xml" Id="R1407512201f5488f" /><Relationship Type="http://schemas.openxmlformats.org/officeDocument/2006/relationships/slide" Target="/ppt/slides/slide15.xml" Id="R5ae3e74474d243c7" /><Relationship Type="http://schemas.openxmlformats.org/officeDocument/2006/relationships/slide" Target="/ppt/slides/slide16.xml" Id="Rb30d7543d7d54656" /><Relationship Type="http://schemas.openxmlformats.org/officeDocument/2006/relationships/slide" Target="/ppt/slides/slide17.xml" Id="R5a8f41b206c34cc1" /><Relationship Type="http://schemas.openxmlformats.org/officeDocument/2006/relationships/slide" Target="/ppt/slides/slide18.xml" Id="Rcb7eafb006444b34" /><Relationship Type="http://schemas.openxmlformats.org/officeDocument/2006/relationships/slide" Target="/ppt/slides/slide19.xml" Id="Rbdd21bcd3a894e40" /><Relationship Type="http://schemas.openxmlformats.org/officeDocument/2006/relationships/slide" Target="/ppt/slides/slide20.xml" Id="Rcb2b20728e5b4085" /><Relationship Type="http://schemas.openxmlformats.org/officeDocument/2006/relationships/slide" Target="/ppt/slides/slide21.xml" Id="R3eced73d3f5246c6" /><Relationship Type="http://schemas.openxmlformats.org/officeDocument/2006/relationships/slide" Target="/ppt/slides/slide22.xml" Id="R86023d4a8aa049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5a296f08e46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9f44bb7473498a" /><Relationship Type="http://schemas.openxmlformats.org/officeDocument/2006/relationships/notesMaster" Target="/ppt/notesMasters/notesMaster1.xml" Id="Re543855422634f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23ba1dee9b46e6" /><Relationship Type="http://schemas.openxmlformats.org/officeDocument/2006/relationships/notesMaster" Target="/ppt/notesMasters/notesMaster1.xml" Id="R247abf3dbe25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6ac7b211264fc5" /><Relationship Type="http://schemas.openxmlformats.org/officeDocument/2006/relationships/notesMaster" Target="/ppt/notesMasters/notesMaster1.xml" Id="Rb4f1412d5ba942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8ee3a21224b74" /><Relationship Type="http://schemas.openxmlformats.org/officeDocument/2006/relationships/notesMaster" Target="/ppt/notesMasters/notesMaster1.xml" Id="R7ab2d3a3cdef45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225d2dc2240f8" /><Relationship Type="http://schemas.openxmlformats.org/officeDocument/2006/relationships/notesMaster" Target="/ppt/notesMasters/notesMaster1.xml" Id="R242702b41cd444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97a4990994a9d" /><Relationship Type="http://schemas.openxmlformats.org/officeDocument/2006/relationships/notesMaster" Target="/ppt/notesMasters/notesMaster1.xml" Id="Ra361e9d2a1e141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d687176364027" /><Relationship Type="http://schemas.openxmlformats.org/officeDocument/2006/relationships/notesMaster" Target="/ppt/notesMasters/notesMaster1.xml" Id="Rf792218c14b9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003d3e3cb543a5" /><Relationship Type="http://schemas.openxmlformats.org/officeDocument/2006/relationships/notesMaster" Target="/ppt/notesMasters/notesMaster1.xml" Id="Rcaf31b5a66e846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69febd79f54cc2" /><Relationship Type="http://schemas.openxmlformats.org/officeDocument/2006/relationships/notesMaster" Target="/ppt/notesMasters/notesMaster1.xml" Id="R9fe5049664444f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e70609e9f34077" /><Relationship Type="http://schemas.openxmlformats.org/officeDocument/2006/relationships/notesMaster" Target="/ppt/notesMasters/notesMaster1.xml" Id="R23284cd6baed4f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dd03d9f65a4dd3" /><Relationship Type="http://schemas.openxmlformats.org/officeDocument/2006/relationships/notesMaster" Target="/ppt/notesMasters/notesMaster1.xml" Id="Rfb5dad60f89b44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298d85a53b4da4" /><Relationship Type="http://schemas.openxmlformats.org/officeDocument/2006/relationships/notesMaster" Target="/ppt/notesMasters/notesMaster1.xml" Id="R298068d25bd342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6a15a8b8a14ab9" /><Relationship Type="http://schemas.openxmlformats.org/officeDocument/2006/relationships/notesMaster" Target="/ppt/notesMasters/notesMaster1.xml" Id="Re7d7cd6ae93d45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915013afac489b" /><Relationship Type="http://schemas.openxmlformats.org/officeDocument/2006/relationships/notesMaster" Target="/ppt/notesMasters/notesMaster1.xml" Id="Rf984cc84d1f9419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1f3122fe5547b7" /><Relationship Type="http://schemas.openxmlformats.org/officeDocument/2006/relationships/notesMaster" Target="/ppt/notesMasters/notesMaster1.xml" Id="Rb296d9f8c47b4e1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e4cf2f3cfb44ed6" /><Relationship Type="http://schemas.openxmlformats.org/officeDocument/2006/relationships/notesMaster" Target="/ppt/notesMasters/notesMaster1.xml" Id="R7fdbcf7ed8a242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1c6c7468614406" /><Relationship Type="http://schemas.openxmlformats.org/officeDocument/2006/relationships/notesMaster" Target="/ppt/notesMasters/notesMaster1.xml" Id="Rbb15c9f2721043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61582425944cca" /><Relationship Type="http://schemas.openxmlformats.org/officeDocument/2006/relationships/notesMaster" Target="/ppt/notesMasters/notesMaster1.xml" Id="R164568e9e2f640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3e59ca4d1924288" /><Relationship Type="http://schemas.openxmlformats.org/officeDocument/2006/relationships/notesMaster" Target="/ppt/notesMasters/notesMaster1.xml" Id="Rb0162ff3912c4b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4e965fa41a4164" /><Relationship Type="http://schemas.openxmlformats.org/officeDocument/2006/relationships/notesMaster" Target="/ppt/notesMasters/notesMaster1.xml" Id="R5357518097e245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ce7fad103f464f" /><Relationship Type="http://schemas.openxmlformats.org/officeDocument/2006/relationships/notesMaster" Target="/ppt/notesMasters/notesMaster1.xml" Id="Ra1d2cee6d08e490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aa10e341634796" /><Relationship Type="http://schemas.openxmlformats.org/officeDocument/2006/relationships/notesMaster" Target="/ppt/notesMasters/notesMaster1.xml" Id="R078ecda8c1344c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E:\Projeto CS\README.md e estrutura local. Ilustração de capa gerada por IA para 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E:\Projeto CS\README.md, seção Current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inventário local gerado nesta revisão e E:\Projeto CS\README.md.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árvore local de E:\Projeto 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E:\Projeto CS\README.md, configs/project.yaml e src/**/*.py.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E:\Projeto CS\README.md, seções Official Pipeline Order e Current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src/ingestion, src/parsing, dags/cs2_demo_ingestion.py 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src/features/*.py, configs/project.yaml e docs/feature_contract.md.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configs/maps/map_registry.yaml, configs/maps/mirage.yaml, configs/maps/inferno.yaml e src/maps/*.py. Ilustração gerada por IA para representar a separação entre geometria e semântica.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src/validation/*.py, docs/inferno_feature_quality.md e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src/analysis/*.py, docs/vitality_mirage_vs_inferno_eda.md e docs/vitality_multi_map_tactical_findings.md.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src/modeling/*.py, configs/modeling/*.yaml e relatórios de modelagem.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E:\Projeto CS\README.md, Current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docs/inferno_ab_exploratory_baseline.md e docs/modeling_integrity_refactor_regression.md.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configs/modeling/inferno_sample_expansion.yaml e docs/inferno_sample_expansion.md.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dags/*.py, compose.airflow.yml e docs/airflow.md.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inspeção de cada módulo em E:\Projeto CS\src. O guia complementar contém uma linha por arquivo.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inspeção de cada módulo em E:\Projeto CS\src. O guia complementar contém uma linha por arquivo.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docs/notebook_inventory.md, pyproject.toml e execução de pytest nesta revisão.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README.md, Official Pipeline Order, e docs/airflow.md.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README.md, docs/inferno_sample_expansion.md e docs/airflow.md.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Materiais criados nesta revisão. Os arquivos estão em C:\Users\celso\OneDrive\Documentos\ChatGPT\Projeto CS\entregaveis.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b169ec2ce74a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423ddc52814745" /><Relationship Type="http://schemas.openxmlformats.org/officeDocument/2006/relationships/slideLayout" Target="/ppt/slideLayouts/slideLayout1.xml" Id="R7cb76aeaadc745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b76aeaadc745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3ae14d19d4b39" /><Relationship Type="http://schemas.openxmlformats.org/officeDocument/2006/relationships/image" Target="/ppt/media/image.png" Id="R56f582a2a37a48cb" /><Relationship Type="http://schemas.openxmlformats.org/officeDocument/2006/relationships/notesSlide" Target="/ppt/notesSlides/notesSlide1.xml" Id="Rf9af8c64091f4e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9a200894a4456" /><Relationship Type="http://schemas.openxmlformats.org/officeDocument/2006/relationships/notesSlide" Target="/ppt/notesSlides/notesSlide2.xml" Id="Rfbb9a48ca34341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f1a6673d54a21" /><Relationship Type="http://schemas.openxmlformats.org/officeDocument/2006/relationships/chart" Target="/ppt/slides/charts/chart1.xml" Id="R2de5cdbea5314153" /><Relationship Type="http://schemas.openxmlformats.org/officeDocument/2006/relationships/notesSlide" Target="/ppt/notesSlides/notesSlide3.xml" Id="R17814234a0d74a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85fa970d4442" /><Relationship Type="http://schemas.openxmlformats.org/officeDocument/2006/relationships/notesSlide" Target="/ppt/notesSlides/notesSlide4.xml" Id="R608d42009e404b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f67a290d54fa9" /><Relationship Type="http://schemas.openxmlformats.org/officeDocument/2006/relationships/notesSlide" Target="/ppt/notesSlides/notesSlide5.xml" Id="R9c77ca16f5e5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c7a84930f40db" /><Relationship Type="http://schemas.openxmlformats.org/officeDocument/2006/relationships/notesSlide" Target="/ppt/notesSlides/notesSlide6.xml" Id="Rd54a7e4602e248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5ea5859f646f0" /><Relationship Type="http://schemas.openxmlformats.org/officeDocument/2006/relationships/notesSlide" Target="/ppt/notesSlides/notesSlide7.xml" Id="R5ebb342b190048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99748853a4bd8" /><Relationship Type="http://schemas.openxmlformats.org/officeDocument/2006/relationships/notesSlide" Target="/ppt/notesSlides/notesSlide8.xml" Id="Rcc73841bb7a646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f582e8d3e49a6" /><Relationship Type="http://schemas.openxmlformats.org/officeDocument/2006/relationships/image" Target="/ppt/media/image2.png" Id="R27fd9b3a40c04196" /><Relationship Type="http://schemas.openxmlformats.org/officeDocument/2006/relationships/notesSlide" Target="/ppt/notesSlides/notesSlide9.xml" Id="Rab51ba28f6d149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431eb57c742e0" /><Relationship Type="http://schemas.openxmlformats.org/officeDocument/2006/relationships/notesSlide" Target="/ppt/notesSlides/notesSlide10.xml" Id="R30af35f8a8cd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a153034af451a" /><Relationship Type="http://schemas.openxmlformats.org/officeDocument/2006/relationships/notesSlide" Target="/ppt/notesSlides/notesSlide11.xml" Id="R409bfcf8e66d47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85577afe941f7" /><Relationship Type="http://schemas.openxmlformats.org/officeDocument/2006/relationships/notesSlide" Target="/ppt/notesSlides/notesSlide12.xml" Id="Rb9cd05d35f3c40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2a3cc70d74147" /><Relationship Type="http://schemas.openxmlformats.org/officeDocument/2006/relationships/chart" Target="/ppt/slides/charts/chart2.xml" Id="R096a37e675c449bd" /><Relationship Type="http://schemas.openxmlformats.org/officeDocument/2006/relationships/notesSlide" Target="/ppt/notesSlides/notesSlide13.xml" Id="R9122b5e5822348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b03a87cf445ff" /><Relationship Type="http://schemas.openxmlformats.org/officeDocument/2006/relationships/notesSlide" Target="/ppt/notesSlides/notesSlide14.xml" Id="R0bbe4e3dc2ad48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e8478fecb45d1" /><Relationship Type="http://schemas.openxmlformats.org/officeDocument/2006/relationships/chart" Target="/ppt/slides/charts/chart3.xml" Id="R1a016817ec36484a" /><Relationship Type="http://schemas.openxmlformats.org/officeDocument/2006/relationships/notesSlide" Target="/ppt/notesSlides/notesSlide15.xml" Id="Ra247a8d4993b40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6c5b107324b23" /><Relationship Type="http://schemas.openxmlformats.org/officeDocument/2006/relationships/notesSlide" Target="/ppt/notesSlides/notesSlide16.xml" Id="Rb2c120334c974f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39c5d45024fa7" /><Relationship Type="http://schemas.openxmlformats.org/officeDocument/2006/relationships/notesSlide" Target="/ppt/notesSlides/notesSlide17.xml" Id="R208096b7aed44c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578c24a594a88" /><Relationship Type="http://schemas.openxmlformats.org/officeDocument/2006/relationships/notesSlide" Target="/ppt/notesSlides/notesSlide18.xml" Id="R01885f833b1c41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50d5e255b406d" /><Relationship Type="http://schemas.openxmlformats.org/officeDocument/2006/relationships/notesSlide" Target="/ppt/notesSlides/notesSlide19.xml" Id="R77ca5854ff4f4b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bd8ee17544d79" /><Relationship Type="http://schemas.openxmlformats.org/officeDocument/2006/relationships/notesSlide" Target="/ppt/notesSlides/notesSlide20.xml" Id="R2edcc7edf8984d3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d184ca2084277" /><Relationship Type="http://schemas.openxmlformats.org/officeDocument/2006/relationships/notesSlide" Target="/ppt/notesSlides/notesSlide21.xml" Id="R2b1cd6b2fabd4f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c5770f8943f6" /><Relationship Type="http://schemas.openxmlformats.org/officeDocument/2006/relationships/notesSlide" Target="/ppt/notesSlides/notesSlide22.xml" Id="Rf014c93d14a14b3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Arquivos</c:v>
          </c:tx>
          <c:spPr>
            <a:solidFill xmlns:a="http://schemas.openxmlformats.org/drawingml/2006/main">
              <a:srgbClr val="35D0E8"/>
            </a:solidFill>
          </c:spPr>
          <c:cat>
            <c:strRef>
              <c:f>'Chart Data'!$A$2:$A$6</c:f>
              <c:strCache>
                <c:ptCount val="5"/>
                <c:pt idx="0">
                  <c:v>Código-fonte</c:v>
                </c:pt>
                <c:pt idx="1">
                  <c:v>Testes</c:v>
                </c:pt>
                <c:pt idx="2">
                  <c:v>Docs</c:v>
                </c:pt>
                <c:pt idx="3">
                  <c:v>Notebooks</c:v>
                </c:pt>
                <c:pt idx="4">
                  <c:v>Configs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77</c:v>
                </c:pt>
                <c:pt idx="1">
                  <c:v>42</c:v>
                </c:pt>
                <c:pt idx="2">
                  <c:v>28</c:v>
                </c:pt>
                <c:pt idx="3">
                  <c:v>28</c:v>
                </c:pt>
                <c:pt idx="4">
                  <c:v>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2677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Mirage</c:v>
          </c:tx>
          <c:spPr>
            <a:solidFill xmlns:a="http://schemas.openxmlformats.org/drawingml/2006/main">
              <a:srgbClr val="35D0E8"/>
            </a:solidFill>
          </c:spPr>
          <c:cat>
            <c:strRef>
              <c:f>'Chart Data'!$A$2:$A$4</c:f>
              <c:strCache>
                <c:ptCount val="3"/>
                <c:pt idx="0">
                  <c:v>Rounds</c:v>
                </c:pt>
                <c:pt idx="1">
                  <c:v>T-side</c:v>
                </c:pt>
                <c:pt idx="2">
                  <c:v>T-side plantado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405</c:v>
                </c:pt>
                <c:pt idx="1">
                  <c:v>180</c:v>
                </c:pt>
                <c:pt idx="2">
                  <c:v>98</c:v>
                </c:pt>
              </c:numCache>
            </c:numRef>
          </c:val>
        </c:ser>
        <c:ser>
          <c:idx val="1"/>
          <c:order val="1"/>
          <c:tx>
            <c:v>Inferno</c:v>
          </c:tx>
          <c:spPr>
            <a:solidFill xmlns:a="http://schemas.openxmlformats.org/drawingml/2006/main">
              <a:srgbClr val="F3A640"/>
            </a:solidFill>
          </c:spPr>
          <c:cat>
            <c:strRef>
              <c:f>'Chart Data'!$C$2:$C$4</c:f>
              <c:strCache>
                <c:ptCount val="3"/>
                <c:pt idx="0">
                  <c:v>Rounds</c:v>
                </c:pt>
                <c:pt idx="1">
                  <c:v>T-side</c:v>
                </c:pt>
                <c:pt idx="2">
                  <c:v>T-side plantado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122</c:v>
                </c:pt>
                <c:pt idx="1">
                  <c:v>65</c:v>
                </c:pt>
                <c:pt idx="2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2677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384C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F4F7F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Percentual da meta</c:v>
          </c:tx>
          <c:spPr>
            <a:solidFill xmlns:a="http://schemas.openxmlformats.org/drawingml/2006/main">
              <a:srgbClr val="35D0E8"/>
            </a:solidFill>
          </c:spPr>
          <c:cat>
            <c:strRef>
              <c:f>'Chart Data'!$A$2:$A$7</c:f>
              <c:strCache>
                <c:ptCount val="6"/>
                <c:pt idx="0">
                  <c:v>Demos</c:v>
                </c:pt>
                <c:pt idx="1">
                  <c:v>Séries</c:v>
                </c:pt>
                <c:pt idx="2">
                  <c:v>Rounds plantados</c:v>
                </c:pt>
                <c:pt idx="3">
                  <c:v>Menor classe</c:v>
                </c:pt>
                <c:pt idx="4">
                  <c:v>Oponentes</c:v>
                </c:pt>
                <c:pt idx="5">
                  <c:v>Grupos LOGO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50</c:v>
                </c:pt>
                <c:pt idx="1">
                  <c:v>62.5</c:v>
                </c:pt>
                <c:pt idx="2">
                  <c:v>50</c:v>
                </c:pt>
                <c:pt idx="3">
                  <c:v>60</c:v>
                </c:pt>
                <c:pt idx="4">
                  <c:v>80</c:v>
                </c:pt>
                <c:pt idx="5">
                  <c:v>62.5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F4F7F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23384C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2677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11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7111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582a2a37a48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2CB6A-08EE-446B-85AF-FC5340FE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CS2 Tactical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A33F5-3CCF-42C0-B316-F22E05EC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C9D8E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9D8E7"/>
                </a:solidFill>
                <a:latin typeface="Arial"/>
                <a:ea typeface="Arial"/>
                <a:cs typeface="Arial"/>
              </a:rPr>
              <a:t>Revisão do repositório e do pipeline completo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C91E-64D6-4FE5-8A79-EE8727F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E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F83D7-042E-4A04-90B3-41850711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Vitality, Mirage e Inferno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Implementação atual até o estágio 8.12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1BD56-9287-4200-846B-38A2A7C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5 set 2026</a:t>
            </a:r>
          </a:p>
        </p:txBody>
      </p:sp>
    </p:spTree>
    <p:extLst>
      <p:ext uri="{BB962C8B-B14F-4D97-AF65-F5344CB8AC3E}">
        <p14:creationId xmlns:p14="http://schemas.microsoft.com/office/powerpoint/2010/main" val="5092402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1FDCF8-F665-4835-BD4A-EFA6ADFA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VISÃO GERAL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B70EB-BD0F-4BC0-BEA3-8A6A2CDE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 que o projeto entrega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164FA-A2E0-4A97-B91D-4A114D08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B7BED-54E5-4F6B-A52C-739BB778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3998B-F80A-4B19-AC32-86D45CC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F87CE-4B4F-446F-AA12-6852BA9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14DE4-1B4C-4391-AA6B-575807AD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 repositório transforma demos locais em evidência tática rastreável e em modelos exploratórios com limites explícitos.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477A0-A0DC-4FE5-95A0-E351CBD4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18097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4DEC5-13B9-4B7F-9CDA-14B7616D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Demos locais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875B6-AB58-4B1A-945E-91367291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RAR e DEM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seed manual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9F771-84A0-4915-85AF-49C1F9E8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00375"/>
            <a:ext cx="18097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DB59D-C122-45E0-9BB2-186EA29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337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FAF69-F47C-43C9-BA72-32C78A2D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76625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Awpy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Bronze e Silver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4B263-7F8B-4BF3-A55B-AEA6A0B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18097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F110EB-4024-4FD9-887B-5DEE637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BB404-0632-4A68-91B1-B3297420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76625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tempo, região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estado do 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07FA06-760F-42B9-94EC-860325AF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0375"/>
            <a:ext cx="18097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6E29-8CAD-45F4-BB56-C96AF886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3F298-A5FB-4FE4-AE21-5DDC3BB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76625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EDA, gates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revisão humana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AD78F-2B91-43EF-9154-47895E6A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0375"/>
            <a:ext cx="1809750" cy="140970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DDAFC-91FD-4C3A-99CC-F08E011A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33725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Modelos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E6E4C8-0B93-432F-92A2-E483BBFD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A/B exploratório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prontidão</a:t>
            </a:r>
          </a:p>
        </p:txBody>
      </p: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514600" y="3705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A6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705350" y="3705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A6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96100" y="3705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9B8A6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086850" y="3705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3A640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58AA3-14B3-4520-8BEE-C7F60AD4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Fora do escopo atual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95D5E-23D2-4C6B-A01B-1968E46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deployment, dashboard, BigQuery e execução distribuída</a:t>
            </a:r>
          </a:p>
        </p:txBody>
      </p:sp>
    </p:spTree>
    <p:extLst>
      <p:ext uri="{BB962C8B-B14F-4D97-AF65-F5344CB8AC3E}">
        <p14:creationId xmlns:p14="http://schemas.microsoft.com/office/powerpoint/2010/main" val="189055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65D653-DA07-4799-AE81-3E0A70EE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INVENTÁRIO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4DA19-52FD-4036-B453-20532B9D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Escala do repositório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3013-C08C-48B4-8E5B-7A7DD15D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5C31A-74EF-4F76-A30C-C34759E7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B9F97-6642-4DAD-9623-8A69741E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BE8E3-9235-47B7-BEFA-81B30D8A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7201B-5693-42D9-A3E6-CF379741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1.708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5E3D2-AE85-426D-A119-60CC3A94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arquivos no total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E8F1DE-0C3F-4D03-B2CC-BFC9B3BB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504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42,8 GiB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5D606-084C-437C-B219-75DC028F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57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tamanho local aproximado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44C472-55B3-4AF2-B657-A0E71A01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04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1.498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592F6-0C9F-4ABE-A2E6-48FABCA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arquivos de dados gerados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3B222-B57F-4392-A394-F5B8DF01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049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210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0E79A2-3E1D-4C58-A782-46C7848E8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57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arquivos humanos e de suporte</a:t>
            </a:r>
          </a:p>
        </p:txBody>
      </p:sp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685800" y="2971800"/>
          <a:ext xmlns:a="http://schemas.openxmlformats.org/drawingml/2006/main" cx="6572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e5cdbea5314153"/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C11B2-A855-46AC-AB34-2AD2C359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861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Onde o espaço está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41F23-5C21-45CA-B9FB-26082726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CBE67-B267-4456-A0DC-2BBF782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42,0 GiB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242C5-94B5-4C3A-83BC-E328EB71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19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B17C0-BD4E-41C5-8DCD-7BF02E5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5C17A-B29F-4C21-B029-223D26FE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2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0,48 GiB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D6A75-B030-46E7-99FE-61D652B9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863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E693DC-B6A5-49A8-890B-994063F1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0,24 GiB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9D39C-F934-4D0C-A5ED-47A54A9B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435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8BDE6-1A50-446F-B916-C34E5B6F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0,07 GiB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F2356-A931-41E8-9D17-AD2F981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19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Arquivos brutos concentram cerca de 98% do espaço.</a:t>
            </a:r>
          </a:p>
        </p:txBody>
      </p:sp>
    </p:spTree>
    <p:extLst>
      <p:ext uri="{BB962C8B-B14F-4D97-AF65-F5344CB8AC3E}">
        <p14:creationId xmlns:p14="http://schemas.microsoft.com/office/powerpoint/2010/main" val="1126879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7C2AD3-0E23-460D-9037-EAAE980B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INVENTÁRIO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DFC35-F927-480D-919F-5D746E5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Mapa das pastas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72091-7B0E-4606-896E-0ACA7A44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6B8E1-ED17-45A7-B403-B22CCBE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C81F0-6515-4DE8-A825-DB809600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ED26C-6BF2-4B87-A404-7E73565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FBC17-F01C-4CB9-A917-96836E0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E:\Projeto 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FF322-EA49-40FD-B2D1-13A7D28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00250"/>
            <a:ext cx="2857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25805-9FB1-4524-81AE-1DE547E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669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37D9B-8934-45F8-830C-3142587F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src/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93785-972C-4A41-A58F-4281F728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43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lógica do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86BC1-1F7D-4D3B-97B3-54C78CC1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336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A99A-70A8-4475-B82E-C07C9C44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00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configs/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6F7EE-17BE-4BFC-8A5A-5DF9730F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098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decisões versionadas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703214-F017-4760-A8D8-1E2178EE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004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B9886-E9EF-4758-AC4C-96BB2E37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67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data/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F573D-427A-435F-87C4-CBC243ED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76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Raw, Bronze, Silver e 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B832C-8FA0-4E9E-8EBB-54C0647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671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72AD4-245A-4325-AE93-748D5C9F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33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dags/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9D77A-343B-492E-90C8-7EC529C5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543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orquestração Airflow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30C44-50C7-49AE-A034-C8977DE7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3385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A8C9B-9320-43B2-89BB-E4FF9E17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tests/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00F1B-01A4-4F21-9A42-B70CABF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010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contratos e regressões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E9403-46DB-4E1D-AC70-29117DB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6005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257694-48BF-42E0-A2A1-04E89EB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672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docs/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E3912-3778-4F60-AE79-D34382EC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76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relatórios narrativos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E61B09-4067-4805-8310-A7C38BF3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673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574A9-960F-4F71-AA5C-2E0CF35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33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notebooks/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F9FB0-8B21-471D-9F44-7C77DEA7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43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visões de inspeção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1A33D-A05A-4D22-B565-E06D9333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534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7AC7A-3554-41DA-9FBF-3ACE5BA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400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CB0C4"/>
                </a:solidFill>
                <a:latin typeface="Arial"/>
                <a:ea typeface="Arial"/>
                <a:cs typeface="Arial"/>
              </a:rPr>
              <a:t>docker/ e .github/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EEFC47-6788-4E73-9E62-E7348698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10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execução local e CI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C197B4-0FFA-46D6-AE7D-2B15E49C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33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Separação importante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089B8-8E81-44F5-AD63-23B0D540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72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Código e configuração entram no Git. Demos e camadas geradas ficam locais.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0E7261-AA29-4ED5-806D-85356EFB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O guia detalhado explica os 210 arquivos humanos individualmente e agrupa os 1.498 artefatos repetitivos por família.</a:t>
            </a:r>
          </a:p>
        </p:txBody>
      </p:sp>
    </p:spTree>
    <p:extLst>
      <p:ext uri="{BB962C8B-B14F-4D97-AF65-F5344CB8AC3E}">
        <p14:creationId xmlns:p14="http://schemas.microsoft.com/office/powerpoint/2010/main" val="1168027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2307C0-9DEC-4EA7-A375-2A066E7C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BB143-4E4B-461F-9FEE-CCB5326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Pipeline de dados ponta a ponta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63A80F-9C0C-4439-B055-C88CB82D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D27C2-BD5F-49CF-9688-305514BB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BCAB7-4E73-4A2E-824E-960DDE18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9446E-68F7-45FC-8DBC-EDA84BD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DAD99-062E-41C1-98C1-C6FB5903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05050"/>
            <a:ext cx="17907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3D2DF-82D3-44CF-8E03-7CFFE5BE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D9010-3A26-41CF-9CEA-FB1E9D1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seed, archives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demos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FCB38-01C9-4A24-A12C-ED221843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05050"/>
            <a:ext cx="17907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72C5B-C98C-41F8-BC9F-4AF5E2F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384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BRONZE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29E8B-41C7-42A2-82C5-DEE9CEA4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813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manifests 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tabelas por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9AACF-1750-4065-B47A-0897445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7907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29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31E855-1116-48F6-8492-771EA32E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384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SILVER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A75E4-F2C6-4ADE-B077-37A6AA7E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eventos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consolidados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02198-666C-4F72-9175-DA3B150F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05050"/>
            <a:ext cx="17907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B24DE-7766-4450-86C9-61657E1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384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31971-6E06-4072-940D-7479D32C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813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features, estado,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análise e modelos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E296C0-C834-4A80-9DBE-8FB3239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05050"/>
            <a:ext cx="179070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4F7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93AEFF-643C-4F60-9626-706766EB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3840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CONSUMO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F47BDF-E663-4046-B3D9-786FA70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813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docs, notebooks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futuros dashboards</a:t>
            </a:r>
          </a:p>
        </p:txBody>
      </p: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62200" y="29908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95825" y="29908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29450" y="29908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363075" y="29908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D5D47-FF85-45ED-A2B6-F2886DFD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Rastreio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7BB0A-B8D2-43CD-A015-63271262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84B57A-E98C-4286-A055-638EDC75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hashes, IDs de demo, parse_id, series_id, round_id e fingerprints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FCAE86-90EE-436D-8961-EC7D03A8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Quality gates separam materialização de interpretação em cada fronteira crítica.</a:t>
            </a:r>
          </a:p>
        </p:txBody>
      </p:sp>
    </p:spTree>
    <p:extLst>
      <p:ext uri="{BB962C8B-B14F-4D97-AF65-F5344CB8AC3E}">
        <p14:creationId xmlns:p14="http://schemas.microsoft.com/office/powerpoint/2010/main" val="730540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27892-51D1-47A6-A3A3-9F20220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895CA-2DD3-4E7E-BB97-F59843E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Evolução do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FDB8A-D8E0-45F7-AF55-145B432A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CE664-FC96-4A07-9C90-DAD7DFA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3A56-4C3E-4111-8379-A6C26D0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08BBE-AFF5-4706-84BF-4D85428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F546D-22A8-45B0-AA22-49B35A1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MVP Mirage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231C84-60EF-47CE-91B2-2C642F08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4F249-EF64-4133-B8FD-FD6D3D2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1 a 3.6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8CC15-7543-4A2E-B83A-9FB53583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ingestão e parsing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A7271-7403-40A7-B3CE-A476C0B1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4 a 4.2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21151-18CB-491A-BDEA-7DE3EC4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features e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54B4A-38C5-4038-A7D9-87E3209F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66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5 a 5.2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C3A2F-F274-4DCA-80FA-9107168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289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EDA e revisão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3562AC-2AD2-41F0-85EC-0BE67E6B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66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6 a 6.3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CB097-FDD1-4FB1-B080-1DE2964C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289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baseline e candidato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84370E-90C4-4627-B7DA-BA2F291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669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174D6-EB62-412A-88CC-F489127B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pacote final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DE3E5-DD97-4EBB-8F4D-67F85A8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Expansão multi-mapa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6A5EA-2A41-4542-B066-54E75802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2BD69-6F2D-4C63-98A6-9666FA56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8.0 a 8.3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4EFD4-5A96-4B9F-9A84-37336614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contrato e proteção Mirage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C8898-99A2-4318-BC68-5947D4EE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8.4 a 8.7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2D48A-0F94-41C6-89AB-665030E2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onboarding Inferno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4A3B9-92E0-4828-9789-6B690A75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38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8.8 a 8.9.1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0FF66-91CF-4346-BC5D-7A4621BF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Gold e qualidade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5A5E4C-DAB8-40F5-ADEF-B9AB4E3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38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8.10 a 8.10.1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AE0A59-1658-4F5A-91CC-BA8527D2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10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EDA e hardening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038725-3EE0-4095-80DE-F74C243C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386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8.11 a 8.12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821049-2EEC-49BB-AD34-DB8ED75F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1010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modelo e prontidão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0A35F5-D238-4A3D-95B7-E81AC7D6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O estágio 8 não substitui o MVP. Ele generaliza a arquitetura e preserva o resultado anterior por regressão formal.</a:t>
            </a:r>
          </a:p>
        </p:txBody>
      </p:sp>
    </p:spTree>
    <p:extLst>
      <p:ext uri="{BB962C8B-B14F-4D97-AF65-F5344CB8AC3E}">
        <p14:creationId xmlns:p14="http://schemas.microsoft.com/office/powerpoint/2010/main" val="2264954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84412-A82E-49F8-9B4A-C8EE425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20B22-80CF-4C04-B4FC-78DBBD3A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Ingestão e parsing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FFFD8-EB1E-44ED-8207-1845AF68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C19F8-F19C-49B1-B5BA-B09BC89B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371E8-582F-4BA4-8102-15D165CB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38DC4-1580-495E-A457-F7BDEFD7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CE8D5-21B0-4AD7-A6EE-C2404B04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2BA521-BEB9-462B-AAD2-A33E6096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Entrada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18733-17A4-4ED7-B069-58B0F9F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seed ou arquivo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DAD5D-22C1-44D7-8071-A4F36573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5DBC6-EA45-4D7B-9833-22C2931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Catálogo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45E01-C657-45BC-AC37-4F7E0B8E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IDs e aliases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81DDF-7046-4A99-8365-AEADEDF1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7369B-F95C-4355-8CE8-90DA0511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Extração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BD3019-9985-441C-8367-46FD701F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RAR, ZIP e DEM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820536-6DBE-4A43-962B-55B817FE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EC6B2-3868-42A7-A548-4D00E3B0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69406-EABE-4E3A-B77D-AD887332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mapa real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5B20A-3EEF-4F7B-B927-CD095F6E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0EAD-9B93-4900-B0DB-3690DE24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Awpy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831A2-E3BE-493C-A43F-54C22E2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tabelas e eventos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2F011-4FE9-4409-ACFA-2D5A7AFE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286000"/>
            <a:ext cx="1571625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1C315F-C21A-4FD6-866D-DE40F53A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19350"/>
            <a:ext cx="1266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Quality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11265-2F26-441F-9261-56B2657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62250"/>
            <a:ext cx="12668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elegibilidade</a:t>
            </a:r>
          </a:p>
        </p:txBody>
      </p:sp>
      <p:cxnSp>
        <p:nvCxnSpPr>
          <p:cNvPr id="5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028825" y="28860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971925" y="28860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15025" y="28860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858125" y="28860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801225" y="28860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E8F05-C58B-424E-85FB-7268EBA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009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O modo manual continua funcional sem internet.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Falhas de uma demo não interrompem as demais.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Forçar um mapa substitui somente o escopo solicitado.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75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4F7FB"/>
                </a:solidFill>
                <a:latin typeface="Arial"/>
                <a:ea typeface="Arial"/>
                <a:cs typeface="Arial"/>
              </a:rPr>
              <a:t>Demos curtas, partidas divididas e parsing suspeito não entram em features.</a:t>
            </a:r>
          </a:p>
        </p:txBody>
      </p:sp>
    </p:spTree>
    <p:extLst>
      <p:ext uri="{BB962C8B-B14F-4D97-AF65-F5344CB8AC3E}">
        <p14:creationId xmlns:p14="http://schemas.microsoft.com/office/powerpoint/2010/main" val="8428677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86E6B-64D5-445B-869D-08418F71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445E4-E614-4A9D-A4AF-BEF5009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 engineering e estado do 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4BAF7-6CA1-4BCF-93FE-C165FD20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5CAF8-740D-40FA-808D-4240A5A6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EF6D6-EFE4-4C11-8435-1AA0A38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0DCB2-C3F2-4F4F-AA96-E3BEA10A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0C2D9-C139-456E-98BC-79C29B4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Evidência do parser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411EE-C50A-4802-B9E3-067D9FD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ticks, rounds, kills, danos, utilidade e bomba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0F9F0-42A2-447C-BB4B-6EBA74C1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192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8B5CD-4937-4266-B679-3243D976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Janelas temporais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98AF76-F630-49E6-ACA0-76A37A63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Intervalos e acumulados até 115 segundos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698664-AF84-4C31-AA18-E32A55B0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2990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8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0F806-E020-44B3-998D-E39FB23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482B8-23AD-4222-8422-4626F51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219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D3A43-EEBD-4AE4-8D02-45FB33FB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6893D-5A1E-4035-B46F-5B66E168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19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8A844-84DF-42CE-83D9-638C462A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0B8D8-38AA-47AE-8CCC-D73A80D7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219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B570F1-470C-4AC4-99EC-5493CDA0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4FDD0-7658-4956-82BD-485B0E7E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19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AC94A-5E60-4B59-A092-7A585E07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575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D81523-7EC6-439A-8696-FCDBADF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194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9C99EC-E9C2-4CD2-8E46-F361A194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posição, dispersão, regiões, inventário, uso de utilidade e progressão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E9219-AD18-422A-B4A7-6287143A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192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10EDC-34AC-45E9-B0EB-87222C75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Estado canônico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184BF7-DDD4-4DBE-AD28-720054DE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lado da Vitality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dono do plant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bombsite A ou B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confiança da label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separação T-side e CT-side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115AD-7B40-49EB-8743-F4D61BE1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006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 modelo usa apenas rounds T-side com plant próprio e label A/B de alta confiança.</a:t>
            </a:r>
          </a:p>
        </p:txBody>
      </p:sp>
    </p:spTree>
    <p:extLst>
      <p:ext uri="{BB962C8B-B14F-4D97-AF65-F5344CB8AC3E}">
        <p14:creationId xmlns:p14="http://schemas.microsoft.com/office/powerpoint/2010/main" val="13959879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d9b3a40c0419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231A2-CAD8-441A-8322-0C18CBC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3B1AF-ED5F-47D3-9EEB-170B9082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06189-6738-4882-AB56-42930C94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Arquitetura multi-mapa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396C3-ECBE-4DFC-937C-27C6A2F9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4550"/>
            <a:ext cx="12192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FCF2B-9E08-4B48-91CE-1AADEC5A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Cada mapa mantém sua geometria física. Conceitos como controle de meio, pressão A/B e estado do round usam uma camada semântica comum.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39CA5-E10B-480A-AA17-C47D7E52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23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6995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CB713-BF57-452A-95DA-F2860FF4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CONFIABILIDADE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1F270-FE14-4091-BD5B-97AC08B6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Gates de qualidade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0AED6-0F2F-473E-829C-C79D8503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CD1F7-5B1B-4008-AF9E-E374765D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65CA6-CE37-44B4-A82A-C0C93A36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5AA6E-0B79-4F60-A43D-E12761A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64881-F79F-442B-BF2B-FC0FD162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28194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211824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5C74-BBD4-49AA-9D27-1917B8D2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0510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9F420-2473-4E02-83C5-D6032D9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251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sem evidência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não há aprovação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AF34A-496F-4543-B390-713EA19F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2286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79BCF-E304-4135-8B36-7557508E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02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DCEB4-826D-429D-9071-369CE44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4312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demos completas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elegíveis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CBEB3-2AC4-4B26-B0C9-90F9EF5D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286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29B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71FD0-9334-4BF0-A331-424FBBC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Mirage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B35E9-C166-4C3D-9C9D-A391891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0060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regressão 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compatibilidade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5CCCA-7FE3-4C57-A6E5-1F9D6594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2286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9DDBF-D216-4D7A-BCDB-6DAC511E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0225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4C790-5BD2-41CC-8BCB-BD6CF10B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43125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upsert, chaves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 preservação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F8A5C9-3B55-4907-B78D-0979C6B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22860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BA5973-AC6C-4312-8BE1-FB6EDD74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921CE5-B7C7-49D0-9BCD-D29BD4D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0060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missingness, domínio,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semântica e labels</a:t>
            </a:r>
          </a:p>
        </p:txBody>
      </p:sp>
      <p:cxnSp>
        <p:nvCxnSpPr>
          <p:cNvPr id="49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247900"/>
            <a:ext cx="15430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43250" y="3248025"/>
            <a:ext cx="1543050" cy="1657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505700" y="2247900"/>
            <a:ext cx="15430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05700" y="3248025"/>
            <a:ext cx="1543050" cy="1657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45A916-608D-478D-AAD2-CFE5E2F4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958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Qualidade do Inferno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742D3-F588-46E5-82E2-A35F01F2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0 falhas bloqueantes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166 avisos visíveis</a:t>
            </a:r>
          </a:p>
        </p:txBody>
      </p:sp>
    </p:spTree>
    <p:extLst>
      <p:ext uri="{BB962C8B-B14F-4D97-AF65-F5344CB8AC3E}">
        <p14:creationId xmlns:p14="http://schemas.microsoft.com/office/powerpoint/2010/main" val="1071290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11932-7E92-4B61-8B7C-C0D500E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ANÁLISE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38350-5E31-4E70-B0B1-54D5E22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Análise tática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CEE95-9F63-4432-8EDF-4E2FD0A3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EF5F1-0DEF-4087-A2EC-98D98EFE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A4EB1-35EC-48C0-A151-B7559D97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12B3D-0870-4C73-8E3E-568C7AF3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3C6E4-F3F5-4AD9-BE52-B8CEF95E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1145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E5627-247D-4A62-8FE7-701CD45D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EDA multi-mapa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FE20C-B5EA-45AB-A3E1-56BC4DDD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coortes 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bootstrap por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929F8-C5C2-4849-8315-83FAC049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1145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29B8A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197C6F-7ABA-4FB1-A9C0-66CF50B1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71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Candidatos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D6A2B-F535-4561-A03F-A2139EC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14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comparações A/B,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plant e mapas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C89E2-0CB1-4D8B-B375-CCD4D25A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1145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54F24-859E-4D78-9EF0-A1BE508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Hardening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542D6-2349-4DD8-9C90-8FF05B42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exposição, LODO,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oponente e taxonomia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A7C5F-5470-47EB-BF85-CF88F826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38375"/>
            <a:ext cx="21145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466A22-3F4B-4F79-9189-EB8473C6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Evidência final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8AAF7-A778-4F69-9DD6-24A428A9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ranking auditável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para revisão humana</a:t>
            </a:r>
          </a:p>
        </p:txBody>
      </p:sp>
      <p:cxnSp>
        <p:nvCxnSpPr>
          <p:cNvPr id="4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29337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562600" y="29337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229600" y="29337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0262E-EE43-400C-911B-DB50470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276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A398D4-8E3E-4AB7-872D-576E043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features comparáveis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9B5D69-9D86-4727-A1C0-AD57D9E5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5770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2.760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17C6A-78EF-47C3-843D-DD63696D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101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candidatos brutos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4586E-415B-42C5-9509-BAAD8484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577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C4F2A-2C8F-4EF4-8D11-CA901077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achados consolidados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4DBF5-57D4-4501-9079-76901880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577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FEF98-748C-4209-83EF-1A9A7CA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101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achados endurecidos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E491F2-60C1-4DEA-A411-21B1926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8102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Associações continuam descritivas até a revisão de demos.</a:t>
            </a:r>
          </a:p>
        </p:txBody>
      </p:sp>
    </p:spTree>
    <p:extLst>
      <p:ext uri="{BB962C8B-B14F-4D97-AF65-F5344CB8AC3E}">
        <p14:creationId xmlns:p14="http://schemas.microsoft.com/office/powerpoint/2010/main" val="1085796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22AA33-D6DC-432F-AEF9-FC13F6EB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FAE2F-1DE4-4D77-958C-2F531BBB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Modelagem A/B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5AAF8-EF7C-4858-9E5E-B47FA6C1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5E7D6-BCD2-42E8-88F8-247CC28F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085B4-5B57-4A53-A564-25D19AE6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2AD32-B4B7-4D43-AC35-08215E0F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AA615-0434-4A43-AD25-B59D8D8D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Mirage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BAF4-3488-4278-BC62-C3FBE6FB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9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5BDC4-9AA6-49B7-B86D-FA8C7648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4767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1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18 avaliações de horizonte e modelo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1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análise de 120 erros selecionados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1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30 experimentos controlados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1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um candidato exploratório congelado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B64ED-F65A-4983-ACC6-33AD702E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CB0C4"/>
                </a:solidFill>
                <a:latin typeface="Arial"/>
                <a:ea typeface="Arial"/>
                <a:cs typeface="Arial"/>
              </a:rPr>
              <a:t>Objetivo histórico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4DA36-5A49-48B5-B04B-03985F59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priorizar rounds para análise, sem alegar produção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66545-9DB8-4DB9-BD42-8A37AB61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1925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5FCEE-D760-4B5C-8B8D-D5E2DCE0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1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Inferno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D7A32-3531-4FCA-97C0-248F2F9D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57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097CF-6E98-4C2F-82AF-66A0C687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52437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horizonte fixo de 35 segundos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regressão logística L2 com C 0,1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leave-one-series-out em cinco grupos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permutação por grupo e bootstrap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oito features aprovadas de onze candidatas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DF0E0-FC56-4AE8-9BAF-33F1657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48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CB0C4"/>
                </a:solidFill>
                <a:latin typeface="Arial"/>
                <a:ea typeface="Arial"/>
                <a:cs typeface="Arial"/>
              </a:rPr>
              <a:t>Regra comum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60683-0364-4109-8D5A-AA0E7230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391150"/>
            <a:ext cx="4524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labels e janelas futuras ficam fora da matriz de predição</a:t>
            </a:r>
          </a:p>
        </p:txBody>
      </p:sp>
    </p:spTree>
    <p:extLst>
      <p:ext uri="{BB962C8B-B14F-4D97-AF65-F5344CB8AC3E}">
        <p14:creationId xmlns:p14="http://schemas.microsoft.com/office/powerpoint/2010/main" val="7802359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F1296F-BDE9-4388-9BEC-25243C9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9F9CA-3C8C-4D65-970D-621A81EA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Snapshot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1037B-F964-4490-8C1A-9B994811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C038E-6E6B-4E74-963C-38CD72B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6B997-0A49-427F-8BD2-5433299B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76C1F-D5E1-499D-8C42-DDDC831B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6a37e675c449b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C4248-E542-4706-B54E-FDF226F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240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26D11-1D6F-414E-9F34-3686BA28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rounds consolidados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37EEC-DA90-4C7E-999E-A95E10EB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138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25CFB-2186-49A2-BA81-F4C9A09D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plants T-side A/B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76567B-4C4E-4B6C-ABEA-71FEFCEF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33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94 / 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04612-D531-450A-A434-9D76AB3E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classe A e classe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E1CD5-F54B-49A5-B39F-90FFB9A8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387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9CB0C4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4CC40-B1BA-45D1-8BAD-7D66F2F0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791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T-side sem plant válido</a:t>
            </a:r>
          </a:p>
        </p:txBody>
      </p:sp>
    </p:spTree>
    <p:extLst>
      <p:ext uri="{BB962C8B-B14F-4D97-AF65-F5344CB8AC3E}">
        <p14:creationId xmlns:p14="http://schemas.microsoft.com/office/powerpoint/2010/main" val="796086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F76256-4801-4F45-8249-694B77B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41A91-45F2-4BB8-B2F7-F051615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Resultado do baseline Inferno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7AF9-ABB8-4835-8177-E9A60CD9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0E9DC-E11F-481B-A352-0AA3F8A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ECE6F-BD50-4813-A978-2F3E82F8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A3A60-7B44-41AE-89D6-A396846C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AEB8E-9F86-47FE-BBDA-5C18A09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NO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2504-1BFC-49D6-87F7-8ABE1EE7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 performance OOF não supera uma referência nula de forma útil.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DF50F-5861-4CBB-B1D8-54F049C2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0,472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C4CFC-2CE3-4D89-9227-8EA3FCBB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CA108-856A-4C78-9F9E-AA4411E4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05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0,472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E2C7A-8499-4417-84D2-50F8A2D3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57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6898B-DDEB-483C-B673-65E4329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-0,055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12186-3492-4112-AF98-5F825F64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MCC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D9A55B-B6C2-494F-83CD-2C1DF048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0673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0,487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8CF5-26C8-4ACC-93D0-CE92258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19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F9D65-5B14-4FD1-BA24-A2D041AC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Matriz de confusão 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384F6-0A1E-4D89-966B-0D183476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Predito 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21A3E-2779-4B28-AF4A-5F105F37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Predito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73EE1-0DE2-41FC-BE4B-F28CCECC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14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Real 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BA602-C43D-49F9-A430-BC1EF6EA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Real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6B1B73-6A55-4F15-A30E-AC25F363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B535F-9B05-4F3A-BB5C-94697EBC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79314-1F01-4CFC-AEDE-3A0B47B2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24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 classificado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como 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D11190-D1C2-4BE4-97BB-B935289E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479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EB839E-358C-41F5-A11C-C1091179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813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7C773-227C-4BEC-B63B-4A31F943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242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 classificado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como 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CDCC5-1EED-4C9C-897A-E17F6738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F6B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E0D10-F3B2-4695-ACCD-10946E0A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92225-F5E5-49E4-A225-23407A4F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053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 classificado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como 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B6F326-EE7A-4DEE-BE5C-E3832364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29050"/>
            <a:ext cx="14287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83345-DE9B-4966-AAE3-98F380E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624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A07A93-29E7-4B24-B871-3BB9F0BF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05300"/>
            <a:ext cx="112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 classificado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como 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7EE943-C76E-4842-83AF-78F471E2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Status correto: exploratório. Próxima ação: ampliar a amostra sem tuning.</a:t>
            </a:r>
          </a:p>
        </p:txBody>
      </p:sp>
    </p:spTree>
    <p:extLst>
      <p:ext uri="{BB962C8B-B14F-4D97-AF65-F5344CB8AC3E}">
        <p14:creationId xmlns:p14="http://schemas.microsoft.com/office/powerpoint/2010/main" val="14212107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B1858-7DFE-4B4C-B9B5-6FBE8E38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D66BA-9840-4DAA-8811-57598C79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Prontidão da amostra Inferno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3CBEB-10AA-42C7-ACBF-DEA909A1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7BD16-6022-4EDF-AFCE-DDC60F0E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81586-DE73-421D-A5A0-5EBCDBC0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7D75F-FC37-4DCF-B9ED-26DD50E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6953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016817ec36484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5403E-7FDE-4AD3-809C-E141B467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Atual / meta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F6E18-E498-419C-AD39-32D5A47B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5 / 8 grupos LOGO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959BD-9D5A-463F-9ABF-C12208D8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62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 / 5 oponentes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0B9566-5C7F-477A-A1F8-65D4107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18 / 30 na menor classe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4D58F-17F7-4964-9680-8D04DCBC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40 / 80 rounds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75E1E-AD4C-4C55-A895-BE1C5A5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5 / 8 séries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D65BC-2437-42FA-BF0A-563A692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5 / 10 demos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BF0D5-6C31-4203-834D-4E75B4FB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91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A38A9-3E87-4C12-B96E-87E7B34C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expanded_but_limited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E205D-BF2A-4133-84E3-05A122D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9055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modeling_sample_ready = false</a:t>
            </a:r>
          </a:p>
        </p:txBody>
      </p:sp>
    </p:spTree>
    <p:extLst>
      <p:ext uri="{BB962C8B-B14F-4D97-AF65-F5344CB8AC3E}">
        <p14:creationId xmlns:p14="http://schemas.microsoft.com/office/powerpoint/2010/main" val="14806467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B2058E-5412-47FA-917B-90BAFA92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7E6F2-BCA5-478E-8962-C7C4ECD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Orquestração Airflow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28B32-9C0C-43D6-8230-1804E913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328C4-0D76-4D8C-B847-1315BB03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85B6-4941-4792-B7B9-8E57D3B0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3AA6-00F0-4ED1-816C-4FBE4B3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5D2D5-722E-48CD-A58F-9F91BF7B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cs2_demo_ingestion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FF61F-357C-4535-9393-0D80E11C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catálogo, scan, probe, parser e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B1350-C754-4350-8EA7-E284D045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002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D0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21FA1-4A10-40A2-A5E9-D373A609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cs2://silver/parse-quality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C17D6-9B56-4319-BA15-9906991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Asset de saída observável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07A39-E062-4098-B2EE-EA92F1F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cs2_gold_materialization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84E12-57F9-4556-B6E0-26CA844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features, estado, datasets e Gold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515D9-F551-411E-B347-020AD745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099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D4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4C399-60D5-412A-B187-4845B54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cs2://gold/scoped-map-features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5EC9E-78A1-408B-A648-684A141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Asset de saída observável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B6D1C-B145-4A79-AA40-EF96AE23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cs2_inferno_analysis_modeling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72F24-A107-4620-A260-7EC3B09C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qualidade, EDA, modelo e readiness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A018-20CA-4AB7-AEAF-E437340D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19650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6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7787E8-47F9-43CF-AA46-6C8709E4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cs2://gold/inferno-analysis-modeling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110D3-D760-44F9-83B8-8163B38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10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Asset de saída observável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1D755F-3B02-4015-98B2-81051444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769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Execução manual, LocalExecutor, PostgreSQL e no máximo uma run ativa por DAG.</a:t>
            </a:r>
          </a:p>
        </p:txBody>
      </p:sp>
    </p:spTree>
    <p:extLst>
      <p:ext uri="{BB962C8B-B14F-4D97-AF65-F5344CB8AC3E}">
        <p14:creationId xmlns:p14="http://schemas.microsoft.com/office/powerpoint/2010/main" val="20080513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401CB-1691-4E81-B2E6-6F022A21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B9C5E-BFB8-46C9-AE86-8C926BEC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Tour de arquivos: base do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199D5-47BC-4E2B-AF12-2B926340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FD77B-9FB2-4D54-B2BE-AA2EDE65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3F2DC-7CB3-4D95-8DB9-ED7E6361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878E9-2031-425E-8328-28E4B0C0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DE467-30B5-45AF-9481-34209107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Configuração e ingestão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F91F7-B8FE-4581-90BD-A59ECC63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8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config/schemas.py valida todo o YAML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8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ingestion/ constrói catálogo, baixa ou registra archives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8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scan_local_archives.py trata splits e demos diretas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454E0-39C8-4F30-9251-6066E2C2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Parsing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372DC-DE00-4F88-A96C-576C711E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awpy_parser.py isola o backend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parse_demos.py controla escopo e falhas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parsed_tables.py mantém Bronze e Silver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parse_quality.py publica elegibilidade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F639A-CFCB-407B-84EE-99FE2BF5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4D825-554C-4260-9197-91E1970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364D0-D62A-43E5-BE79-6E40D40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build_round_features.py integra as famílias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position, utility, bomb, death e progression são módulos separados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round_state.py resolve a label sem proxy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side_datasets.py publica T e CT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run_map_pipeline.py encapsula o fluxo por mapa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2F499-7B29-457E-9D2D-0A97E4E8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19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Mapas e armazenamento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ABD34-E92F-482F-82AB-39672BDC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67275"/>
            <a:ext cx="476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maps/ separa identidade, geometria e semântica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storage/scoped_gold.py garante upsert por escopo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utils/ centraliza I/O, logs, reports e notebooks</a:t>
            </a:r>
          </a:p>
        </p:txBody>
      </p:sp>
    </p:spTree>
    <p:extLst>
      <p:ext uri="{BB962C8B-B14F-4D97-AF65-F5344CB8AC3E}">
        <p14:creationId xmlns:p14="http://schemas.microsoft.com/office/powerpoint/2010/main" val="14890241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21CFC-F6B0-4DEA-859B-D3C86A5E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5C335-8D0B-4F4A-93A5-A3648FE7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Tour de arquivos: evidência e controle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6A454-7178-4AD6-8EFC-BD7EF2AE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6D23B-3E98-4D22-9CE3-284293B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8B809-D828-4366-AA66-38CDB523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24000-8EFE-42F2-9F1F-CBFF46B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D8265-7B7A-448E-96B5-19E1D5DB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Análise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8FB88-4321-459E-ADC8-9C5E085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t_side_eda.py e t_side_findings.py cobrem o MVP Mirage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t_side_manual_review.py liga achados a rounds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multi_map_tactical_eda.py compara mapas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tactical_finding_hardening.py consolida evidência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BA413-7756-4F24-A54E-AE737E78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Modelagem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A52C9-FD79-49D9-A708-C0250436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47625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t_side_ab_* mantém a trilha Mirage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build_map_ab_dataset.py aprova features fail-closed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inferno_ab_exploratory_baseline.py executa LOGO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inferno_sample_expansion.py mede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A1B4F-5263-432A-B089-4D76B5C8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621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5AF55-6B53-4C7F-A453-E11A2618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0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Validação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6424E-738B-4AC2-8EE5-A7E8A5E9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mirage_regression_gate.py protege o legado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multi_map_parse_gate.py protege Silver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multi_map_gold_gate.py protege Gold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map_feature_quality_gate.py avalia 477 features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feature_materialization_repair.py corrige sem relaxar limites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38563-9553-43A1-A8DC-5ECFB62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Reporting e operação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F036-0F4E-4776-BCA5-C4AB072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build_final_mvp_report.py gera o pacote inicial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dags/ apenas encadeia CLIs existentes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700"/>
              </a:spcAft>
              <a:buNone/>
              <a:defRPr sz="135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F4F7FB"/>
                </a:solidFill>
                <a:latin typeface="Arial"/>
                <a:ea typeface="Arial"/>
                <a:cs typeface="Arial"/>
              </a:rPr>
              <a:t>scripts/check_airflow_dags.py valida imports na CI</a:t>
            </a:r>
          </a:p>
        </p:txBody>
      </p:sp>
    </p:spTree>
    <p:extLst>
      <p:ext uri="{BB962C8B-B14F-4D97-AF65-F5344CB8AC3E}">
        <p14:creationId xmlns:p14="http://schemas.microsoft.com/office/powerpoint/2010/main" val="15687503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250CB-281C-43F7-98BA-6EA9D39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ARQUIVOS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61336-AAAE-4C66-934A-F81B3513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Documentação, notebooks e testes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89206-FD70-4D35-A4E9-C88C55A4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50A17-B1C4-46CA-88A5-3E10424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4A830-39C4-4CCA-AD1B-CC5CD99E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A9684-5541-47F8-A077-AC25C6B0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AC1CA-54DC-47CE-AAEB-31AEF589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14207-B545-464A-854D-61745F2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documentos Markdown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86D55-DAAC-45BE-B06A-A0F41862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Relatórios narrativos por estágio, incluindo Airflow, mapas, qualidade, achados e modelos.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C8597-8994-4D15-B45D-C7B01710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83866-20A2-4A1F-AB1B-6C9BC89D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notebooks sem 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B475E-41ED-4F72-B79F-3EBA1DE3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Visões de inspeção. Os atuais são 03, 04, 05 e 25 a 29. O número 28 não existe.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6085C-D1F1-470D-8CF2-9B77848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45D07-EBED-4B33-B729-F77AF90D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arquivos de teste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9764B-7CB4-4BE2-A5D3-0B1E1018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19400"/>
            <a:ext cx="295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290 testes aprovados. Cobertura forte de idempotência, leakage, regressão, gates e casos de erro.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2DE33-6114-4353-8E57-B1C44BC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EB117-CD0D-4044-AD85-F48A03D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D30B2-5952-4F78-B1D8-62FDB7C6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911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Python 3.11 e 3.12, Ruff, Pytest, build da imagem Airflow e import das DAGs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1AF69-036B-4674-A2EC-32EE005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Resultado desta revisão: lint aprovado, 290 testes aprovados, um aviso não bloqueante.</a:t>
            </a:r>
          </a:p>
        </p:txBody>
      </p:sp>
    </p:spTree>
    <p:extLst>
      <p:ext uri="{BB962C8B-B14F-4D97-AF65-F5344CB8AC3E}">
        <p14:creationId xmlns:p14="http://schemas.microsoft.com/office/powerpoint/2010/main" val="9788309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EE30A-EA11-476A-8FAA-9A60D361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181B3-1F3D-4448-9534-543C3539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Como reconstruir com 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1806-58A3-48AD-8714-35952FA0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214E2-F72C-4A90-B1C1-608C81E0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CC2CB-B342-4356-B8DC-3E5CA0C2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7121E-E7E9-46D7-A84A-C81C74C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9941E-9481-4015-B6A8-C809978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667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990B7-5D03-4562-BF73-3000B061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1. Ingestão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4877B3-0C73-41F6-8017-B177855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catálogo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scan e extração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probe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parsing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parse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6AFF0-AA06-440E-95E9-5C43C84D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2667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C7A18-9560-4FA0-BB52-86D2E2A4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050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2. Gold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7C0B5-F43A-4DC8-814D-4B448C2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479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round features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round state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side datasets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Gold gate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feature quality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C7FB0-942D-47E9-9FFD-4442B51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71650"/>
            <a:ext cx="2667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D9B75-665C-450B-BA40-D86D71E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3. Evidência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83411-0215-4C53-82BE-EA4042C7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reparo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EDA multi-mapa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hardening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dataset A/B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baseline e readiness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429000" y="30384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29500" y="30384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2677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05CAE-DD6D-4433-A54C-A2AA5D3B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Regras de invalidação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F5B93-AC9F-4FA5-A0D8-57AF836D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Reprocessar parsing exige refazer quality e tudo a jusante. Reprocessar features exige refazer estado, datasets por lado e análises.</a:t>
            </a:r>
          </a:p>
        </p:txBody>
      </p:sp>
    </p:spTree>
    <p:extLst>
      <p:ext uri="{BB962C8B-B14F-4D97-AF65-F5344CB8AC3E}">
        <p14:creationId xmlns:p14="http://schemas.microsoft.com/office/powerpoint/2010/main" val="3144801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27C4D-D778-4512-9CB8-386003AE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40FE9-0906-41B5-921B-FBF5F3D1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Limitações e próximo passo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6788D-49AF-4736-9BEF-9177BE9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2E030-06C5-42B4-91AB-DB565C50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617F4-9911-469E-9064-551DCE36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9CC4-D74A-431A-B7A3-1080428A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Fonte: repositório local E:\Projeto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8C363-AAF2-478F-B24A-0B98CFF4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6B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6B6B"/>
                </a:solidFill>
                <a:latin typeface="Arial"/>
                <a:ea typeface="Arial"/>
                <a:cs typeface="Arial"/>
              </a:rPr>
              <a:t>Limitações atuais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DB2EF-CE68-4AE3-B894-3CA413B9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quase 42 GiB em archives e demos com retenção manual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armazenamento Gold local impede concorrência segura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cinco grupos no Inferno ainda não sustentam inferência preditiva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10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dashboard e plataforma de dados ainda não existem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DD0C3-8457-4CD9-82AE-3FA9603F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00200"/>
            <a:ext cx="1905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09DAE-99FB-4B57-BA8D-B5A57B3D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Próxima decisão coerente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4F0831-DC90-4F35-87A5-5B5749D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Ampliar a amostra do Inferno antes de ajustar o modelo.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72558-8405-4FDF-B7EF-D033A9CD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chegar a 10 demos e 8 séries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atingir 80 rounds plantados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obter 30 exemplos na menor classe</a:t>
            </a:r>
          </a:p>
          <a:p xmlns:a="http://schemas.openxmlformats.org/drawingml/2006/main">
            <a:pPr marL="228600" indent="-114300">
              <a:lnSpc>
                <a:spcPct val="100000"/>
              </a:lnSpc>
              <a:spcAft>
                <a:spcPts val="900"/>
              </a:spcAft>
              <a:buNone/>
              <a:defRPr sz="150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F4F7FB"/>
                </a:solidFill>
                <a:latin typeface="Arial"/>
                <a:ea typeface="Arial"/>
                <a:cs typeface="Arial"/>
              </a:rPr>
              <a:t>cobrir pelo menos 5 adversários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5E3CF-DEBA-4336-A6AF-18DE8BAF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7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3A640"/>
                </a:solidFill>
                <a:latin typeface="Arial"/>
                <a:ea typeface="Arial"/>
                <a:cs typeface="Arial"/>
              </a:rPr>
              <a:t>Manter o baseline e os limites congelados durante a expansão.</a:t>
            </a:r>
          </a:p>
        </p:txBody>
      </p:sp>
    </p:spTree>
    <p:extLst>
      <p:ext uri="{BB962C8B-B14F-4D97-AF65-F5344CB8AC3E}">
        <p14:creationId xmlns:p14="http://schemas.microsoft.com/office/powerpoint/2010/main" val="21352685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3DDDD3-89E9-42E7-9091-67DAEC7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3F152-AB19-4D18-AFA3-FFFC695F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Materiais da revisão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B3C46-EC33-4A20-8FE8-4FD74D7D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02942-721B-4A2B-892D-E99345F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05B4E-9C1B-4939-97CD-2A54FFB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94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BAA05-8BC3-478F-BC30-BC646D68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267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77C"/>
                </a:solidFill>
                <a:latin typeface="Arial"/>
                <a:ea typeface="Arial"/>
                <a:cs typeface="Arial"/>
              </a:rPr>
              <a:t>Entregáveis em C:\Users\celso\OneDrive\Documentos\ChatGPT\Projeto CS\entregaveis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FCA3D-9E92-4366-B34D-D4B1C86D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A apresentação resume a arquitetura. O guia detalhado permite navegar arquivo por arquivo.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611E0-CDA3-4C39-A215-C404495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35D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62CD1-864B-48EB-9917-45D75CF9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35D0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D0E8"/>
                </a:solidFill>
                <a:latin typeface="Arial"/>
                <a:ea typeface="Arial"/>
                <a:cs typeface="Arial"/>
              </a:rPr>
              <a:t>Apresentação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FBC90-5A13-4308-8A87-7AC8331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revisão visual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4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do 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81C8D-2CFF-4409-B407-E9BA0FDF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69D4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D807B-DE0F-4BD0-913F-7AB5089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90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9D4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48C"/>
                </a:solidFill>
                <a:latin typeface="Arial"/>
                <a:ea typeface="Arial"/>
                <a:cs typeface="Arial"/>
              </a:rPr>
              <a:t>Guia Markdown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C5712-C4E2-4BB6-ADAC-77095952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3337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210 arquivos humanos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explicados individualmente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167DC-96B6-4DD1-B5FE-7B704BF5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F3A6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0A701-6C2E-40CD-848E-F5D61F9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3A6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A640"/>
                </a:solidFill>
                <a:latin typeface="Arial"/>
                <a:ea typeface="Arial"/>
                <a:cs typeface="Arial"/>
              </a:rPr>
              <a:t>Inventário 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71E6B-7EC4-4E04-B3B8-2FC8A5B0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1.708 caminhos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com categoria e tamanho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7C5BE-0DDD-4AD0-ACFB-DF0EF0F2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286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235"/>
          </a:solidFill>
          <a:ln xmlns:a="http://schemas.openxmlformats.org/drawingml/2006/main" w="19050">
            <a:solidFill>
              <a:srgbClr val="29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56181-31B4-405E-A1A6-A42391D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9B8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B8A6"/>
                </a:solidFill>
                <a:latin typeface="Arial"/>
                <a:ea typeface="Arial"/>
                <a:cs typeface="Arial"/>
              </a:rPr>
              <a:t>Assets visuais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3C7F4-9F7B-472A-AC72-4CD7C48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capa e arquitetura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13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multi-mapa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5C23F-A5CA-421E-BB45-0BB88D7D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9CB0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CB0C4"/>
                </a:solidFill>
                <a:latin typeface="Arial"/>
                <a:ea typeface="Arial"/>
                <a:cs typeface="Arial"/>
              </a:rPr>
              <a:t>Ponto de partida recomendado: README.md, depois esta apresentação e por fim o guia completo.</a:t>
            </a:r>
          </a:p>
        </p:txBody>
      </p:sp>
    </p:spTree>
    <p:extLst>
      <p:ext uri="{BB962C8B-B14F-4D97-AF65-F5344CB8AC3E}">
        <p14:creationId xmlns:p14="http://schemas.microsoft.com/office/powerpoint/2010/main" val="1673110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2026-09-05T17:20:13.7960000Z</dcterms:created>
  <dcterms:modified xsi:type="dcterms:W3CDTF">2026-09-05T17:20:13.7960000Z</dcterms:modified>
</coreProperties>
</file>